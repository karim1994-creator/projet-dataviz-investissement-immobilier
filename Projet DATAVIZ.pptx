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Public Sans Bold" charset="1" panose="00000000000000000000"/>
      <p:regular r:id="rId21"/>
    </p:embeddedFont>
    <p:embeddedFont>
      <p:font typeface="Playfair Display" charset="1" panose="00000500000000000000"/>
      <p:regular r:id="rId22"/>
    </p:embeddedFont>
    <p:embeddedFont>
      <p:font typeface="Public Sans" charset="1" panose="000000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7.png" Type="http://schemas.openxmlformats.org/officeDocument/2006/relationships/image"/><Relationship Id="rId5" Target="../embeddings/oleObject1.bin" Type="http://schemas.openxmlformats.org/officeDocument/2006/relationships/oleObjec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06" y="4514765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5258334" y="8423910"/>
            <a:ext cx="1514787" cy="613410"/>
          </a:xfrm>
          <a:custGeom>
            <a:avLst/>
            <a:gdLst/>
            <a:ahLst/>
            <a:cxnLst/>
            <a:rect r="r" b="b" t="t" l="l"/>
            <a:pathLst>
              <a:path h="613410" w="1514787">
                <a:moveTo>
                  <a:pt x="0" y="0"/>
                </a:moveTo>
                <a:lnTo>
                  <a:pt x="1514787" y="0"/>
                </a:lnTo>
                <a:lnTo>
                  <a:pt x="1514787" y="613410"/>
                </a:lnTo>
                <a:lnTo>
                  <a:pt x="0" y="6134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06882" y="4728792"/>
            <a:ext cx="16230600" cy="1970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ANALYSE DES VILLES LES PLUS ATTRACTIVES POUR UN INVESTISSEMENT IMMOBILIER EN FRANCE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50974" y="2332416"/>
            <a:ext cx="16408332" cy="2084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50"/>
              </a:lnSpc>
            </a:pPr>
            <a:r>
              <a:rPr lang="en-US" sz="16758" spc="83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Projet DATAVIZ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16407" y="8041005"/>
            <a:ext cx="7862435" cy="1303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Karim CHAMI</a:t>
            </a:r>
          </a:p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Mastere 2 AI &amp; Data Science</a:t>
            </a:r>
          </a:p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08 Juin</a:t>
            </a:r>
            <a:r>
              <a:rPr lang="en-US" sz="23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,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59271" y="5067300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OBJECTIFS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689" y="2122290"/>
            <a:ext cx="13207983" cy="1266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Quelles villes franç</a:t>
            </a: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aises offrent le meilleur potentiel pour un investissement immobilier locatif rentable et durable ?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701746" y="8616481"/>
            <a:ext cx="535737" cy="727544"/>
          </a:xfrm>
          <a:custGeom>
            <a:avLst/>
            <a:gdLst/>
            <a:ahLst/>
            <a:cxnLst/>
            <a:rect r="r" b="b" t="t" l="l"/>
            <a:pathLst>
              <a:path h="727544" w="535737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59271" y="1095375"/>
            <a:ext cx="16230600" cy="1970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PROBLÉMATIQUE</a:t>
            </a:r>
          </a:p>
          <a:p>
            <a:pPr algn="l">
              <a:lnSpc>
                <a:spcPts val="5200"/>
              </a:lnSpc>
            </a:pPr>
          </a:p>
          <a:p>
            <a:pPr algn="l">
              <a:lnSpc>
                <a:spcPts val="5200"/>
              </a:lnSpc>
              <a:spcBef>
                <a:spcPct val="0"/>
              </a:spcBef>
            </a:pPr>
          </a:p>
        </p:txBody>
      </p:sp>
      <p:sp>
        <p:nvSpPr>
          <p:cNvPr name="AutoShape 7" id="7"/>
          <p:cNvSpPr/>
          <p:nvPr/>
        </p:nvSpPr>
        <p:spPr>
          <a:xfrm flipV="true">
            <a:off x="1006877" y="5732686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028700" y="5914397"/>
            <a:ext cx="13207983" cy="2581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Identifier les villes av</a:t>
            </a: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ec le meilleur rendement locatif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Comparer les marchés immobiliers français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Aider les investisseurs à prendre des décisions fondées sur les données</a:t>
            </a:r>
          </a:p>
          <a:p>
            <a:pPr algn="l">
              <a:lnSpc>
                <a:spcPts val="5235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59271" y="5656783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INDICATEURS ETUDIEES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689" y="2122290"/>
            <a:ext cx="13207983" cy="3238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35"/>
              </a:lnSpc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Comparer les villes franç</a:t>
            </a: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aises afin d'identifier :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les villes les plus rentables ;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les villes présentant un bon équilibre entre prix d'achat et loyers ;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les marchés offrant un potentiel d'investissement durable.</a:t>
            </a:r>
          </a:p>
          <a:p>
            <a:pPr algn="l">
              <a:lnSpc>
                <a:spcPts val="5235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701746" y="8616481"/>
            <a:ext cx="535737" cy="727544"/>
          </a:xfrm>
          <a:custGeom>
            <a:avLst/>
            <a:gdLst/>
            <a:ahLst/>
            <a:cxnLst/>
            <a:rect r="r" b="b" t="t" l="l"/>
            <a:pathLst>
              <a:path h="727544" w="535737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59271" y="10953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BESOIN</a:t>
            </a:r>
          </a:p>
        </p:txBody>
      </p:sp>
      <p:sp>
        <p:nvSpPr>
          <p:cNvPr name="AutoShape 7" id="7"/>
          <p:cNvSpPr/>
          <p:nvPr/>
        </p:nvSpPr>
        <p:spPr>
          <a:xfrm flipV="true">
            <a:off x="1006877" y="6322169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028700" y="6503880"/>
            <a:ext cx="13207983" cy="3238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Prix moyen d'a</a:t>
            </a: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chat au m²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Loyer moyen au m²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Rendement locatif brut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N</a:t>
            </a: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ombre de transactions immobilières</a:t>
            </a:r>
          </a:p>
          <a:p>
            <a:pPr algn="l">
              <a:lnSpc>
                <a:spcPts val="5235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01746" y="8616481"/>
            <a:ext cx="535737" cy="727544"/>
          </a:xfrm>
          <a:custGeom>
            <a:avLst/>
            <a:gdLst/>
            <a:ahLst/>
            <a:cxnLst/>
            <a:rect r="r" b="b" t="t" l="l"/>
            <a:pathLst>
              <a:path h="727544" w="535737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DATASET RETENU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16407" y="2179440"/>
            <a:ext cx="5146395" cy="8872220"/>
            <a:chOff x="0" y="0"/>
            <a:chExt cx="6861860" cy="11829627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66675"/>
              <a:ext cx="6861860" cy="6322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Source de données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743374"/>
              <a:ext cx="6861860" cy="11086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59"/>
                </a:lnSpc>
              </a:pPr>
              <a:r>
                <a:rPr lang="en-US" sz="1899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Les jeux de données sont téléchargés depuis le site gouv.fr:</a:t>
              </a:r>
            </a:p>
            <a:p>
              <a:pPr algn="l">
                <a:lnSpc>
                  <a:spcPts val="2659"/>
                </a:lnSpc>
              </a:pPr>
            </a:p>
            <a:p>
              <a:pPr algn="l">
                <a:lnSpc>
                  <a:spcPts val="2659"/>
                </a:lnSpc>
              </a:pPr>
              <a:r>
                <a:rPr lang="en-US" sz="1899" b="true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JDD1</a:t>
              </a:r>
              <a:r>
                <a:rPr lang="en-US" sz="1899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: </a:t>
              </a:r>
            </a:p>
            <a:p>
              <a:pPr algn="l">
                <a:lnSpc>
                  <a:spcPts val="2659"/>
                </a:lnSpc>
              </a:pPr>
              <a:r>
                <a:rPr lang="en-US" sz="1899" b="true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DVF </a:t>
              </a:r>
              <a:r>
                <a:rPr lang="en-US" sz="1899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(Demandes de Valeurs Foncières) : prix des transactions immobilières</a:t>
              </a:r>
            </a:p>
            <a:p>
              <a:pPr algn="l">
                <a:lnSpc>
                  <a:spcPts val="2659"/>
                </a:lnSpc>
              </a:pPr>
              <a:r>
                <a:rPr lang="en-US" sz="1899" b="true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Colonnes retenus après nettoyage: </a:t>
              </a:r>
            </a:p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ville : nom de la ville française.</a:t>
              </a:r>
            </a:p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departement : numéro du département.</a:t>
              </a:r>
            </a:p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prix_m2 : prix moyen au mètre carré (€/m²).</a:t>
              </a:r>
            </a:p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nb_transactions : nombre de transactions immobilières enregistrées.</a:t>
              </a:r>
            </a:p>
            <a:p>
              <a:pPr algn="l">
                <a:lnSpc>
                  <a:spcPts val="2659"/>
                </a:lnSpc>
              </a:pPr>
            </a:p>
            <a:p>
              <a:pPr algn="l">
                <a:lnSpc>
                  <a:spcPts val="2659"/>
                </a:lnSpc>
              </a:pPr>
              <a:r>
                <a:rPr lang="en-US" sz="1899" b="true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JDD2: </a:t>
              </a:r>
            </a:p>
            <a:p>
              <a:pPr algn="l">
                <a:lnSpc>
                  <a:spcPts val="2659"/>
                </a:lnSpc>
              </a:pPr>
              <a:r>
                <a:rPr lang="en-US" sz="1899" b="true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Loyer: </a:t>
              </a:r>
              <a:r>
                <a:rPr lang="en-US" sz="1899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Données des loyers en France:</a:t>
              </a:r>
            </a:p>
            <a:p>
              <a:pPr algn="l">
                <a:lnSpc>
                  <a:spcPts val="2659"/>
                </a:lnSpc>
              </a:pPr>
              <a:r>
                <a:rPr lang="en-US" sz="1899" b="true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Colonnes retenus après nettoyage: </a:t>
              </a:r>
            </a:p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ville : nom de la ville française.</a:t>
              </a:r>
            </a:p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departement : numéro du département.</a:t>
              </a:r>
            </a:p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REG : code de la région.</a:t>
              </a:r>
            </a:p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loypredm2 : loyer prédit en euros par mètre carré (€/m²).</a:t>
              </a:r>
            </a:p>
            <a:p>
              <a:pPr algn="l">
                <a:lnSpc>
                  <a:spcPts val="2659"/>
                </a:lnSpc>
              </a:pPr>
            </a:p>
            <a:p>
              <a:pPr algn="l">
                <a:lnSpc>
                  <a:spcPts val="2659"/>
                </a:lnSpc>
              </a:pPr>
            </a:p>
            <a:p>
              <a:pPr algn="l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553742" y="2312790"/>
            <a:ext cx="5146395" cy="6871970"/>
            <a:chOff x="0" y="0"/>
            <a:chExt cx="6861860" cy="9162627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66675"/>
              <a:ext cx="6861860" cy="6322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Préparation des données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743374"/>
              <a:ext cx="6861860" cy="8419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Suppression des transactions avec des prix aberrants.</a:t>
              </a:r>
            </a:p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</a:t>
              </a:r>
              <a:r>
                <a:rPr lang="en-US" sz="1899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F</a:t>
              </a:r>
              <a:r>
                <a:rPr lang="en-US" sz="1899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iltrage des villes ayant un nombre de transactions supérieur à 30.</a:t>
              </a:r>
            </a:p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Nettoyage des valeurs manquantes.</a:t>
              </a:r>
            </a:p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Conversion des variables au format numérique.</a:t>
              </a:r>
            </a:p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Fusion des jeux de données DVF et Loyers.</a:t>
              </a:r>
            </a:p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Calcul du loyer annuel pour un logement de 50 m² :</a:t>
              </a:r>
            </a:p>
            <a:p>
              <a:pPr algn="l">
                <a:lnSpc>
                  <a:spcPts val="2659"/>
                </a:lnSpc>
              </a:pPr>
              <a:r>
                <a:rPr lang="en-US" sz="1899" b="true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Loyer annuel</a:t>
              </a:r>
              <a:r>
                <a:rPr lang="en-US" sz="1899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= loypredm2 × 50 × 12</a:t>
              </a:r>
            </a:p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Calcul du prix estimé d'acquisition pour un logement de 50 m² :</a:t>
              </a:r>
            </a:p>
            <a:p>
              <a:pPr algn="l">
                <a:lnSpc>
                  <a:spcPts val="2659"/>
                </a:lnSpc>
              </a:pPr>
              <a:r>
                <a:rPr lang="en-US" sz="1899" b="true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Prix estimé </a:t>
              </a:r>
              <a:r>
                <a:rPr lang="en-US" sz="1899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= prix_m2 × 50</a:t>
              </a:r>
            </a:p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Calcul du rendement brut :</a:t>
              </a:r>
            </a:p>
            <a:p>
              <a:pPr algn="l">
                <a:lnSpc>
                  <a:spcPts val="2659"/>
                </a:lnSpc>
              </a:pPr>
              <a:r>
                <a:rPr lang="en-US" sz="1899" b="true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Rendement brut (%)</a:t>
              </a:r>
              <a:r>
                <a:rPr lang="en-US" sz="1899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= (Loyer annuel / Prix estimé) ×</a:t>
              </a:r>
              <a:r>
                <a:rPr lang="en-US" sz="1899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100.</a:t>
              </a:r>
            </a:p>
            <a:p>
              <a:pPr algn="l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112905" y="2312790"/>
            <a:ext cx="5146395" cy="1537970"/>
            <a:chOff x="0" y="0"/>
            <a:chExt cx="6861860" cy="2050627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66675"/>
              <a:ext cx="6861860" cy="6322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Jeu de données final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743374"/>
              <a:ext cx="6861860" cy="1307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Plus de 531000 transactions ana</a:t>
              </a:r>
              <a:r>
                <a:rPr lang="en-US" sz="1899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lysées</a:t>
              </a:r>
            </a:p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C</a:t>
              </a:r>
              <a:r>
                <a:rPr lang="en-US" sz="1899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ouverture nationale</a:t>
              </a:r>
            </a:p>
            <a:p>
              <a:pPr algn="l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01746" y="8616481"/>
            <a:ext cx="535737" cy="727544"/>
          </a:xfrm>
          <a:custGeom>
            <a:avLst/>
            <a:gdLst/>
            <a:ahLst/>
            <a:cxnLst/>
            <a:rect r="r" b="b" t="t" l="l"/>
            <a:pathLst>
              <a:path h="727544" w="535737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471141" y="1273746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739014" y="377601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TECHNOLOGIES UTILISÉES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739014" y="1871245"/>
            <a:ext cx="5146395" cy="4543108"/>
            <a:chOff x="0" y="0"/>
            <a:chExt cx="6861860" cy="6057477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66675"/>
              <a:ext cx="6861860" cy="6322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outils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743374"/>
              <a:ext cx="6861860" cy="53141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59"/>
                </a:lnSpc>
              </a:pPr>
              <a:r>
                <a:rPr lang="en-US" sz="1899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Langage</a:t>
              </a:r>
            </a:p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Python</a:t>
              </a:r>
            </a:p>
            <a:p>
              <a:pPr algn="l">
                <a:lnSpc>
                  <a:spcPts val="2659"/>
                </a:lnSpc>
              </a:pPr>
            </a:p>
            <a:p>
              <a:pPr algn="l">
                <a:lnSpc>
                  <a:spcPts val="2659"/>
                </a:lnSpc>
              </a:pPr>
              <a:r>
                <a:rPr lang="en-US" sz="1899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Librairies</a:t>
              </a:r>
            </a:p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Pandas, NumPy, Matplotlib, Seaborn, SciPy</a:t>
              </a:r>
            </a:p>
            <a:p>
              <a:pPr algn="l">
                <a:lnSpc>
                  <a:spcPts val="2659"/>
                </a:lnSpc>
              </a:pPr>
            </a:p>
            <a:p>
              <a:pPr algn="l">
                <a:lnSpc>
                  <a:spcPts val="2659"/>
                </a:lnSpc>
              </a:pPr>
              <a:r>
                <a:rPr lang="en-US" sz="1899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Visualisation</a:t>
              </a:r>
            </a:p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Tableau Public</a:t>
              </a:r>
            </a:p>
            <a:p>
              <a:pPr algn="l">
                <a:lnSpc>
                  <a:spcPts val="2659"/>
                </a:lnSpc>
              </a:pPr>
            </a:p>
            <a:p>
              <a:pPr algn="l">
                <a:lnSpc>
                  <a:spcPts val="2659"/>
                </a:lnSpc>
              </a:pPr>
            </a:p>
            <a:p>
              <a:pPr algn="l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0" y="1871245"/>
            <a:ext cx="5146395" cy="3538220"/>
            <a:chOff x="0" y="0"/>
            <a:chExt cx="6861860" cy="4717627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66675"/>
              <a:ext cx="6861860" cy="6322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Rôle de chaque outil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743374"/>
              <a:ext cx="6861860" cy="3974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59"/>
                </a:lnSpc>
              </a:pPr>
              <a:r>
                <a:rPr lang="en-US" sz="1899" b="true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Python: </a:t>
              </a:r>
              <a:r>
                <a:rPr lang="en-US" sz="1899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Préparation et analyse</a:t>
              </a:r>
            </a:p>
            <a:p>
              <a:pPr algn="l">
                <a:lnSpc>
                  <a:spcPts val="2659"/>
                </a:lnSpc>
              </a:pPr>
            </a:p>
            <a:p>
              <a:pPr algn="l">
                <a:lnSpc>
                  <a:spcPts val="2659"/>
                </a:lnSpc>
              </a:pPr>
              <a:r>
                <a:rPr lang="en-US" sz="1899" b="true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Pandas:</a:t>
              </a:r>
              <a:r>
                <a:rPr lang="en-US" sz="1899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Manipulation des données</a:t>
              </a:r>
            </a:p>
            <a:p>
              <a:pPr algn="l">
                <a:lnSpc>
                  <a:spcPts val="2659"/>
                </a:lnSpc>
              </a:pPr>
            </a:p>
            <a:p>
              <a:pPr algn="l">
                <a:lnSpc>
                  <a:spcPts val="2659"/>
                </a:lnSpc>
              </a:pPr>
              <a:r>
                <a:rPr lang="en-US" sz="1899" b="true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Seaborn / Matplotlib: </a:t>
              </a:r>
              <a:r>
                <a:rPr lang="en-US" sz="1899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EDA(Analyse Exploratoire des Données) et graphiques</a:t>
              </a:r>
            </a:p>
            <a:p>
              <a:pPr algn="l">
                <a:lnSpc>
                  <a:spcPts val="2659"/>
                </a:lnSpc>
              </a:pPr>
            </a:p>
            <a:p>
              <a:pPr algn="l">
                <a:lnSpc>
                  <a:spcPts val="2659"/>
                </a:lnSpc>
              </a:pPr>
              <a:r>
                <a:rPr lang="en-US" sz="1899" b="true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Tableau: </a:t>
              </a:r>
              <a:r>
                <a:rPr lang="en-US" sz="1899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Dashboard interactif</a:t>
              </a:r>
            </a:p>
            <a:p>
              <a:pPr algn="l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01746" y="8616481"/>
            <a:ext cx="535737" cy="727544"/>
          </a:xfrm>
          <a:custGeom>
            <a:avLst/>
            <a:gdLst/>
            <a:ahLst/>
            <a:cxnLst/>
            <a:rect r="r" b="b" t="t" l="l"/>
            <a:pathLst>
              <a:path h="727544" w="535737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773516" y="2378515"/>
            <a:ext cx="6968968" cy="5807473"/>
          </a:xfrm>
          <a:custGeom>
            <a:avLst/>
            <a:gdLst/>
            <a:ahLst/>
            <a:cxnLst/>
            <a:rect r="r" b="b" t="t" l="l"/>
            <a:pathLst>
              <a:path h="5807473" w="6968968">
                <a:moveTo>
                  <a:pt x="0" y="0"/>
                </a:moveTo>
                <a:lnTo>
                  <a:pt x="6968968" y="0"/>
                </a:lnTo>
                <a:lnTo>
                  <a:pt x="6968968" y="5807474"/>
                </a:lnTo>
                <a:lnTo>
                  <a:pt x="0" y="58074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CORRÉLATION</a:t>
            </a: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entre variables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617613"/>
            <a:ext cx="7877184" cy="4608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700"/>
              </a:lnSpc>
              <a:buFont typeface="Arial"/>
              <a:buChar char="•"/>
            </a:pPr>
            <a:r>
              <a:rPr lang="en-US" b="true" sz="180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Corrélation positive forte</a:t>
            </a:r>
            <a:r>
              <a:rPr lang="en-US" sz="18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entre</a:t>
            </a:r>
            <a:r>
              <a:rPr lang="en-US" sz="18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prix au m² </a:t>
            </a:r>
            <a:r>
              <a:rPr lang="en-US" sz="18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et loyer (+0,69) : les logements plus chers se louent généralement plus cher.</a:t>
            </a:r>
          </a:p>
          <a:p>
            <a:pPr algn="l" marL="388620" indent="-194310" lvl="1">
              <a:lnSpc>
                <a:spcPts val="2700"/>
              </a:lnSpc>
              <a:buFont typeface="Arial"/>
              <a:buChar char="•"/>
            </a:pPr>
            <a:r>
              <a:rPr lang="en-US" b="true" sz="180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Corrélation négative forte </a:t>
            </a:r>
            <a:r>
              <a:rPr lang="en-US" sz="18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entre prix au m² et rendement brut (-0,70)</a:t>
            </a:r>
            <a:r>
              <a:rPr lang="en-US" sz="18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: </a:t>
            </a:r>
            <a:r>
              <a:rPr lang="en-US" sz="18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les zones les plus chères offrent souvent une rentabili</a:t>
            </a:r>
            <a:r>
              <a:rPr lang="en-US" sz="18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té plus faible.</a:t>
            </a:r>
          </a:p>
          <a:p>
            <a:pPr algn="l" marL="388620" indent="-194310" lvl="1">
              <a:lnSpc>
                <a:spcPts val="2700"/>
              </a:lnSpc>
              <a:buFont typeface="Arial"/>
              <a:buChar char="•"/>
            </a:pPr>
            <a:r>
              <a:rPr lang="en-US" b="true" sz="180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Faible lien entre loyer et rendement</a:t>
            </a:r>
            <a:r>
              <a:rPr lang="en-US" sz="18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(-0,11) : un loyer élevé ne garantit pas un bon rendement.</a:t>
            </a:r>
          </a:p>
          <a:p>
            <a:pPr algn="l" marL="388620" indent="-194310" lvl="1">
              <a:lnSpc>
                <a:spcPts val="2700"/>
              </a:lnSpc>
              <a:buFont typeface="Arial"/>
              <a:buChar char="•"/>
            </a:pPr>
            <a:r>
              <a:rPr lang="en-US" b="true" sz="180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Faible impact</a:t>
            </a:r>
            <a:r>
              <a:rPr lang="en-US" sz="18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du nombre de transactions sur le prix, le loy</a:t>
            </a:r>
            <a:r>
              <a:rPr lang="en-US" sz="18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er et le rendement.</a:t>
            </a:r>
          </a:p>
          <a:p>
            <a:pPr algn="l">
              <a:lnSpc>
                <a:spcPts val="2700"/>
              </a:lnSpc>
            </a:pPr>
            <a:r>
              <a:rPr lang="en-US" sz="1800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Pour investir </a:t>
            </a:r>
            <a:r>
              <a:rPr lang="en-US" sz="18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: privilégier les secteurs offrant le meilleur rapport loyer/prix d'achat plutôt que les zones les plus chères.</a:t>
            </a:r>
          </a:p>
          <a:p>
            <a:pPr algn="l">
              <a:lnSpc>
                <a:spcPts val="2700"/>
              </a:lnSpc>
            </a:pPr>
          </a:p>
          <a:p>
            <a:pPr algn="l">
              <a:lnSpc>
                <a:spcPts val="2700"/>
              </a:lnSpc>
            </a:pPr>
          </a:p>
          <a:p>
            <a:pPr algn="l">
              <a:lnSpc>
                <a:spcPts val="419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01746" y="8616481"/>
            <a:ext cx="535737" cy="727544"/>
          </a:xfrm>
          <a:custGeom>
            <a:avLst/>
            <a:gdLst/>
            <a:ahLst/>
            <a:cxnLst/>
            <a:rect r="r" b="b" t="t" l="l"/>
            <a:pathLst>
              <a:path h="727544" w="535737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480590" y="2045047"/>
            <a:ext cx="7298323" cy="4506714"/>
          </a:xfrm>
          <a:custGeom>
            <a:avLst/>
            <a:gdLst/>
            <a:ahLst/>
            <a:cxnLst/>
            <a:rect r="r" b="b" t="t" l="l"/>
            <a:pathLst>
              <a:path h="4506714" w="7298323">
                <a:moveTo>
                  <a:pt x="0" y="0"/>
                </a:moveTo>
                <a:lnTo>
                  <a:pt x="7298323" y="0"/>
                </a:lnTo>
                <a:lnTo>
                  <a:pt x="7298323" y="4506715"/>
                </a:lnTo>
                <a:lnTo>
                  <a:pt x="0" y="45067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598524" y="2003474"/>
            <a:ext cx="7403002" cy="4589861"/>
          </a:xfrm>
          <a:custGeom>
            <a:avLst/>
            <a:gdLst/>
            <a:ahLst/>
            <a:cxnLst/>
            <a:rect r="r" b="b" t="t" l="l"/>
            <a:pathLst>
              <a:path h="4589861" w="7403002">
                <a:moveTo>
                  <a:pt x="0" y="0"/>
                </a:moveTo>
                <a:lnTo>
                  <a:pt x="7403002" y="0"/>
                </a:lnTo>
                <a:lnTo>
                  <a:pt x="7403002" y="4589861"/>
                </a:lnTo>
                <a:lnTo>
                  <a:pt x="0" y="45898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CORRÉLATION ENTRE VARIABLES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480590" y="6839834"/>
            <a:ext cx="7602718" cy="2504191"/>
            <a:chOff x="0" y="0"/>
            <a:chExt cx="10136957" cy="3338922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66675"/>
              <a:ext cx="10136957" cy="6322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Prix immobilier vs loyers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733849"/>
              <a:ext cx="9960889" cy="26050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13"/>
                </a:lnSpc>
              </a:pPr>
              <a:r>
                <a:rPr lang="en-US" sz="1866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C</a:t>
              </a:r>
              <a:r>
                <a:rPr lang="en-US" sz="1866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orrélation positive nette ; les logements situés dans les zones les plus chères affichent généralement des loyers plus élevés.</a:t>
              </a:r>
            </a:p>
            <a:p>
              <a:pPr algn="l">
                <a:lnSpc>
                  <a:spcPts val="2613"/>
                </a:lnSpc>
              </a:pPr>
            </a:p>
            <a:p>
              <a:pPr algn="l">
                <a:lnSpc>
                  <a:spcPts val="2613"/>
                </a:lnSpc>
              </a:pPr>
            </a:p>
            <a:p>
              <a:pPr algn="l">
                <a:lnSpc>
                  <a:spcPts val="2613"/>
                </a:lnSpc>
              </a:pPr>
            </a:p>
            <a:p>
              <a:pPr algn="l">
                <a:lnSpc>
                  <a:spcPts val="2613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598524" y="7002736"/>
            <a:ext cx="7587265" cy="1537970"/>
            <a:chOff x="0" y="0"/>
            <a:chExt cx="10116354" cy="2050627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66675"/>
              <a:ext cx="10116354" cy="6322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Prix immobilier vs rendement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743374"/>
              <a:ext cx="10116354" cy="1307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59"/>
                </a:lnSpc>
              </a:pPr>
              <a:r>
                <a:rPr lang="en-US" sz="1899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P</a:t>
              </a:r>
              <a:r>
                <a:rPr lang="en-US" sz="1899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rix immobilier vs rendement : corrélation négative marquée ; lorsque le prix au m² augmente, le rendement brut tend à diminuer.</a:t>
              </a:r>
            </a:p>
            <a:p>
              <a:pPr algn="l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3939628" y="8902656"/>
            <a:ext cx="7470667" cy="2267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3"/>
              </a:lnSpc>
            </a:pPr>
            <a:r>
              <a:rPr lang="en-US" sz="1866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En investissement locatif,</a:t>
            </a:r>
            <a:r>
              <a:rPr lang="en-US" sz="1866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les zones les plus chères ne sont pas forcément les plus rentables : un prix d'achat modéré associé à un bon niveau de loyer offre souvent un meilleur rendement.</a:t>
            </a:r>
          </a:p>
          <a:p>
            <a:pPr algn="l">
              <a:lnSpc>
                <a:spcPts val="2613"/>
              </a:lnSpc>
            </a:pPr>
          </a:p>
          <a:p>
            <a:pPr algn="l">
              <a:lnSpc>
                <a:spcPts val="2613"/>
              </a:lnSpc>
            </a:pPr>
          </a:p>
          <a:p>
            <a:pPr algn="l">
              <a:lnSpc>
                <a:spcPts val="2613"/>
              </a:lnSpc>
            </a:pPr>
          </a:p>
          <a:p>
            <a:pPr algn="l">
              <a:lnSpc>
                <a:spcPts val="2613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01746" y="8616481"/>
            <a:ext cx="535737" cy="727544"/>
          </a:xfrm>
          <a:custGeom>
            <a:avLst/>
            <a:gdLst/>
            <a:ahLst/>
            <a:cxnLst/>
            <a:rect r="r" b="b" t="t" l="l"/>
            <a:pathLst>
              <a:path h="727544" w="535737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FORMULATION DES HYPOTHÈSES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07763" y="3629342"/>
            <a:ext cx="5146395" cy="3656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Hypothèse 1 – Test ANOVA</a:t>
            </a:r>
          </a:p>
          <a:p>
            <a:pPr algn="l">
              <a:lnSpc>
                <a:spcPts val="2659"/>
              </a:lnSpc>
            </a:pPr>
            <a:r>
              <a:rPr lang="en-US" sz="1899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Question : </a:t>
            </a:r>
            <a:r>
              <a:rPr lang="en-US" sz="18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Le rendement locatif varie-t-il selon les régions ?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H₀ : Les rendements moyens sont identiques entre les régions.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H₁ : Au moins une région présente un rendement différent.</a:t>
            </a:r>
          </a:p>
          <a:p>
            <a:pPr algn="l">
              <a:lnSpc>
                <a:spcPts val="2659"/>
              </a:lnSpc>
            </a:pPr>
            <a:r>
              <a:rPr lang="en-US" sz="1899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Variables :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Rendement brut (%)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Région</a:t>
            </a:r>
          </a:p>
          <a:p>
            <a:pPr algn="l">
              <a:lnSpc>
                <a:spcPts val="265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6331336" y="3629342"/>
            <a:ext cx="5146395" cy="3656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Hypothès</a:t>
            </a:r>
            <a:r>
              <a:rPr lang="en-US" sz="1899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e 2 – Test du Chi²</a:t>
            </a:r>
          </a:p>
          <a:p>
            <a:pPr algn="l">
              <a:lnSpc>
                <a:spcPts val="2659"/>
              </a:lnSpc>
            </a:pPr>
            <a:r>
              <a:rPr lang="en-US" sz="1899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Question :</a:t>
            </a:r>
            <a:r>
              <a:rPr lang="en-US" sz="18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La région influence-t-elle la catégorie de rendement ?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H₀ : Région et rendement sont indépendants.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H₁ : Région et rendement sont dépendants.</a:t>
            </a:r>
          </a:p>
          <a:p>
            <a:pPr algn="l">
              <a:lnSpc>
                <a:spcPts val="2659"/>
              </a:lnSpc>
            </a:pPr>
            <a:r>
              <a:rPr lang="en-US" sz="1899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Variables :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Région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Catég</a:t>
            </a:r>
            <a:r>
              <a:rPr lang="en-US" sz="18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orie de rendement</a:t>
            </a:r>
          </a:p>
          <a:p>
            <a:pPr algn="l">
              <a:lnSpc>
                <a:spcPts val="265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2091076" y="3629342"/>
            <a:ext cx="5146395" cy="299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Hypothès</a:t>
            </a:r>
            <a:r>
              <a:rPr lang="en-US" sz="1899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e 3 – Régression linéaire</a:t>
            </a:r>
          </a:p>
          <a:p>
            <a:pPr algn="l">
              <a:lnSpc>
                <a:spcPts val="2659"/>
              </a:lnSpc>
            </a:pPr>
            <a:r>
              <a:rPr lang="en-US" sz="1899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Question </a:t>
            </a:r>
            <a:r>
              <a:rPr lang="en-US" sz="18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: Le prix au m² influence-t-il le rendement locatif ?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H₀ : Pas de relation linéaire.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H₁ : Le rendement dépend du prix au m².</a:t>
            </a:r>
          </a:p>
          <a:p>
            <a:pPr algn="l">
              <a:lnSpc>
                <a:spcPts val="2659"/>
              </a:lnSpc>
            </a:pPr>
            <a:r>
              <a:rPr lang="en-US" sz="1899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Variables :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X : Prix au m²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Y : </a:t>
            </a:r>
            <a:r>
              <a:rPr lang="en-US" sz="18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Rendement brut</a:t>
            </a:r>
          </a:p>
          <a:p>
            <a:pPr algn="l">
              <a:lnSpc>
                <a:spcPts val="265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3480960" y="2221705"/>
            <a:ext cx="10448701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Objectif</a:t>
            </a:r>
          </a:p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Identifier les facteurs influençant la rentabilité d'un investissement immobilier en France.</a:t>
            </a:r>
          </a:p>
          <a:p>
            <a:pPr algn="l">
              <a:lnSpc>
                <a:spcPts val="2659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01746" y="8616481"/>
            <a:ext cx="535737" cy="727544"/>
          </a:xfrm>
          <a:custGeom>
            <a:avLst/>
            <a:gdLst/>
            <a:ahLst/>
            <a:cxnLst/>
            <a:rect r="r" b="b" t="t" l="l"/>
            <a:pathLst>
              <a:path h="727544" w="535737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6808928" y="3166509"/>
            <a:ext cx="5146395" cy="5990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Principaux enseignements</a:t>
            </a:r>
          </a:p>
          <a:p>
            <a:pPr algn="l">
              <a:lnSpc>
                <a:spcPts val="2659"/>
              </a:lnSpc>
            </a:pP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Le rendement locatif varie significativement selon les régions françaises.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La région influence le niveau de rentabilité observé : certaines régions concentrent davantage de villes à fort rendement.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Les villes les plus chères offrent généralement des rendements plus faibles.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Le prix au m² explique près de 49 % de la variation du rendement locatif.</a:t>
            </a:r>
          </a:p>
          <a:p>
            <a:pPr algn="l">
              <a:lnSpc>
                <a:spcPts val="2659"/>
              </a:lnSpc>
            </a:pPr>
          </a:p>
          <a:p>
            <a:pPr algn="l">
              <a:lnSpc>
                <a:spcPts val="2659"/>
              </a:lnSpc>
            </a:pPr>
          </a:p>
          <a:p>
            <a:pPr algn="l">
              <a:lnSpc>
                <a:spcPts val="2659"/>
              </a:lnSpc>
            </a:pPr>
          </a:p>
          <a:p>
            <a:pPr algn="l">
              <a:lnSpc>
                <a:spcPts val="2659"/>
              </a:lnSpc>
            </a:pPr>
          </a:p>
        </p:txBody>
      </p:sp>
      <p:graphicFrame>
        <p:nvGraphicFramePr>
          <p:cNvPr name="Object 5" id="5"/>
          <p:cNvGraphicFramePr/>
          <p:nvPr/>
        </p:nvGraphicFramePr>
        <p:xfrm>
          <a:off x="546959" y="3469944"/>
          <a:ext cx="5657850" cy="2514600"/>
        </p:xfrm>
        <a:graphic>
          <a:graphicData uri="http://schemas.openxmlformats.org/presentationml/2006/ole">
            <p:oleObj imgW="6781800" imgH="36449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RÉSULTATS ET INTERPRÉTATION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091076" y="3086440"/>
            <a:ext cx="5146395" cy="499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Recomm</a:t>
            </a:r>
            <a:r>
              <a:rPr lang="en-US" sz="1899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andation pour l'investisseur</a:t>
            </a:r>
          </a:p>
          <a:p>
            <a:pPr algn="l">
              <a:lnSpc>
                <a:spcPts val="2659"/>
              </a:lnSpc>
            </a:pP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Privilégier les villes offrant le meilleur équilibre entre p</a:t>
            </a:r>
            <a:r>
              <a:rPr lang="en-US" sz="18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rix d'acquisition et revenus locatifs plutôt que les marchés immobiliers l</a:t>
            </a:r>
            <a:r>
              <a:rPr lang="en-US" sz="18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es plus chers.</a:t>
            </a:r>
          </a:p>
          <a:p>
            <a:pPr algn="l">
              <a:lnSpc>
                <a:spcPts val="2659"/>
              </a:lnSpc>
            </a:pP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La localisation géographique et le prix au m² sont deux facteurs déterminants de la rentabilité immobilière. 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Les meilleures opportunités d'investissement se situent souvent dans des villes aux prix modérés mais aux loyers attractifs.</a:t>
            </a:r>
          </a:p>
          <a:p>
            <a:pPr algn="l">
              <a:lnSpc>
                <a:spcPts val="2659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01746" y="8616481"/>
            <a:ext cx="535737" cy="727544"/>
          </a:xfrm>
          <a:custGeom>
            <a:avLst/>
            <a:gdLst/>
            <a:ahLst/>
            <a:cxnLst/>
            <a:rect r="r" b="b" t="t" l="l"/>
            <a:pathLst>
              <a:path h="727544" w="535737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DASHBO</a:t>
            </a: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ard Tableau</a:t>
            </a:r>
          </a:p>
        </p:txBody>
      </p:sp>
      <p:sp>
        <p:nvSpPr>
          <p:cNvPr name="AutoShape 4" id="4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952616" y="2227065"/>
            <a:ext cx="7877184" cy="6789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799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KPIs principaux</a:t>
            </a: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Transactions : 531 032</a:t>
            </a: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Loyer moyen : 11,17 €/m²</a:t>
            </a: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Prix d’achat moyen : 3 076 €/m²</a:t>
            </a: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Rendement moyen : 4,73 %</a:t>
            </a:r>
          </a:p>
          <a:p>
            <a:pPr algn="l">
              <a:lnSpc>
                <a:spcPts val="4199"/>
              </a:lnSpc>
            </a:pPr>
          </a:p>
          <a:p>
            <a:pPr algn="l">
              <a:lnSpc>
                <a:spcPts val="4199"/>
              </a:lnSpc>
            </a:pPr>
            <a:r>
              <a:rPr lang="en-US" sz="2799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Fonctionnalités</a:t>
            </a: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Carte de France</a:t>
            </a: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Top villes rentables</a:t>
            </a: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Analyse prix / loyers</a:t>
            </a: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Comparaison régionale</a:t>
            </a: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Filtres interactifs</a:t>
            </a:r>
          </a:p>
          <a:p>
            <a:pPr algn="l">
              <a:lnSpc>
                <a:spcPts val="4199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7701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28695" y="1123268"/>
            <a:ext cx="16141564" cy="8857683"/>
          </a:xfrm>
          <a:custGeom>
            <a:avLst/>
            <a:gdLst/>
            <a:ahLst/>
            <a:cxnLst/>
            <a:rect r="r" b="b" t="t" l="l"/>
            <a:pathLst>
              <a:path h="8857683" w="16141564">
                <a:moveTo>
                  <a:pt x="0" y="0"/>
                </a:moveTo>
                <a:lnTo>
                  <a:pt x="16141564" y="0"/>
                </a:lnTo>
                <a:lnTo>
                  <a:pt x="16141564" y="8857683"/>
                </a:lnTo>
                <a:lnTo>
                  <a:pt x="0" y="88576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06871" y="-4762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DASHBOARD</a:t>
            </a: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Tableau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01746" y="8616481"/>
            <a:ext cx="535737" cy="727544"/>
          </a:xfrm>
          <a:custGeom>
            <a:avLst/>
            <a:gdLst/>
            <a:ahLst/>
            <a:cxnLst/>
            <a:rect r="r" b="b" t="t" l="l"/>
            <a:pathLst>
              <a:path h="727544" w="535737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SYNTHÈSE DES RÉSULT</a:t>
            </a: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ats</a:t>
            </a:r>
          </a:p>
        </p:txBody>
      </p:sp>
      <p:sp>
        <p:nvSpPr>
          <p:cNvPr name="AutoShape 4" id="4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028689" y="2227065"/>
            <a:ext cx="7877184" cy="4693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799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Villes les plus rentables</a:t>
            </a:r>
          </a:p>
          <a:p>
            <a:pPr algn="l">
              <a:lnSpc>
                <a:spcPts val="4199"/>
              </a:lnSpc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Parmi les villes identifiées :</a:t>
            </a: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Grigny</a:t>
            </a: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Lapalisse</a:t>
            </a: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Saint-Claude</a:t>
            </a: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Grand-Charmont</a:t>
            </a:r>
          </a:p>
          <a:p>
            <a:pPr algn="l">
              <a:lnSpc>
                <a:spcPts val="4199"/>
              </a:lnSpc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avec des rendements supérieurs à la moyenne nationale.</a:t>
            </a:r>
          </a:p>
          <a:p>
            <a:pPr algn="l">
              <a:lnSpc>
                <a:spcPts val="419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9360287" y="2227065"/>
            <a:ext cx="7877184" cy="3122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799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Constat principal</a:t>
            </a:r>
          </a:p>
          <a:p>
            <a:pPr algn="l">
              <a:lnSpc>
                <a:spcPts val="4199"/>
              </a:lnSpc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Les meilleurs rendements sont souvent observés dans des villes où :</a:t>
            </a: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le prix d'achat reste faible ;</a:t>
            </a: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les loyers demeurent relativement élevés.</a:t>
            </a:r>
          </a:p>
          <a:p>
            <a:pPr algn="l">
              <a:lnSpc>
                <a:spcPts val="4199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01746" y="8616481"/>
            <a:ext cx="535737" cy="727544"/>
          </a:xfrm>
          <a:custGeom>
            <a:avLst/>
            <a:gdLst/>
            <a:ahLst/>
            <a:cxnLst/>
            <a:rect r="r" b="b" t="t" l="l"/>
            <a:pathLst>
              <a:path h="727544" w="535737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RECOMMANDATIONS AU CLIEN</a:t>
            </a: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</a:t>
            </a:r>
          </a:p>
        </p:txBody>
      </p:sp>
      <p:sp>
        <p:nvSpPr>
          <p:cNvPr name="AutoShape 4" id="4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028689" y="2227065"/>
            <a:ext cx="7877184" cy="4170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799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Pour maximiser le rendement</a:t>
            </a:r>
          </a:p>
          <a:p>
            <a:pPr algn="l">
              <a:lnSpc>
                <a:spcPts val="4199"/>
              </a:lnSpc>
            </a:pPr>
            <a:r>
              <a:rPr lang="en-US" sz="2799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Privilégier :</a:t>
            </a: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les villes à prix d'achat modéré ;</a:t>
            </a: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les marchés avec une demande locative stable ;</a:t>
            </a: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l</a:t>
            </a: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es zones présentant un rendement supérieur à 6 %.</a:t>
            </a:r>
          </a:p>
          <a:p>
            <a:pPr algn="l">
              <a:lnSpc>
                <a:spcPts val="419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9360287" y="2227065"/>
            <a:ext cx="7877184" cy="3646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799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Pour limiter le risque</a:t>
            </a:r>
          </a:p>
          <a:p>
            <a:pPr algn="l">
              <a:lnSpc>
                <a:spcPts val="4199"/>
              </a:lnSpc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Ne pas se baser uniquement sur le rendement :</a:t>
            </a: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vérifier la dynamique démographique ;</a:t>
            </a: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analyser la vacance locative ;</a:t>
            </a: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étudier l'attractivité économique locale.</a:t>
            </a:r>
          </a:p>
          <a:p>
            <a:pPr algn="l">
              <a:lnSpc>
                <a:spcPts val="4199"/>
              </a:lnSpc>
            </a:pPr>
          </a:p>
          <a:p>
            <a:pPr algn="l">
              <a:lnSpc>
                <a:spcPts val="4199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01746" y="8616481"/>
            <a:ext cx="535737" cy="727544"/>
          </a:xfrm>
          <a:custGeom>
            <a:avLst/>
            <a:gdLst/>
            <a:ahLst/>
            <a:cxnLst/>
            <a:rect r="r" b="b" t="t" l="l"/>
            <a:pathLst>
              <a:path h="727544" w="535737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LIMITES ET AMÉLIORATIONS</a:t>
            </a:r>
          </a:p>
        </p:txBody>
      </p:sp>
      <p:sp>
        <p:nvSpPr>
          <p:cNvPr name="AutoShape 4" id="4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028689" y="2227065"/>
            <a:ext cx="7877184" cy="3122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799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Limites</a:t>
            </a: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Absence des charges réelles</a:t>
            </a: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Absence de la fiscalité</a:t>
            </a: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Ab</a:t>
            </a: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sence du taux de vacance locative</a:t>
            </a: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Analy</a:t>
            </a: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se basée sur le rendement brut</a:t>
            </a:r>
          </a:p>
          <a:p>
            <a:pPr algn="l">
              <a:lnSpc>
                <a:spcPts val="419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9360287" y="2227065"/>
            <a:ext cx="7877184" cy="4170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799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Améliorations</a:t>
            </a:r>
            <a:r>
              <a:rPr lang="en-US" sz="2799" b="tru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possibles</a:t>
            </a: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Ajouter les données démographiques</a:t>
            </a: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Ajouter les revenus des ménages</a:t>
            </a: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Intégrer les taux de vacance locative</a:t>
            </a: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Cons</a:t>
            </a: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truire un score global d'investissement</a:t>
            </a:r>
          </a:p>
          <a:p>
            <a:pPr algn="l">
              <a:lnSpc>
                <a:spcPts val="4199"/>
              </a:lnSpc>
            </a:pPr>
          </a:p>
          <a:p>
            <a:pPr algn="l">
              <a:lnSpc>
                <a:spcPts val="4199"/>
              </a:lnSpc>
            </a:pPr>
          </a:p>
          <a:p>
            <a:pPr algn="l">
              <a:lnSpc>
                <a:spcPts val="4199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06" y="4514765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6701746" y="8616481"/>
            <a:ext cx="535737" cy="727544"/>
          </a:xfrm>
          <a:custGeom>
            <a:avLst/>
            <a:gdLst/>
            <a:ahLst/>
            <a:cxnLst/>
            <a:rect r="r" b="b" t="t" l="l"/>
            <a:pathLst>
              <a:path h="727544" w="535737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50974" y="2332416"/>
            <a:ext cx="16408332" cy="2084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50"/>
              </a:lnSpc>
            </a:pPr>
            <a:r>
              <a:rPr lang="en-US" sz="16758" spc="83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Merci!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16407" y="7602855"/>
            <a:ext cx="7862435" cy="1741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Karim CHAMI</a:t>
            </a:r>
          </a:p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Mastere 2 AI &amp; Data Science</a:t>
            </a:r>
          </a:p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08 Juin, 2026</a:t>
            </a:r>
          </a:p>
          <a:p>
            <a:pPr algn="l">
              <a:lnSpc>
                <a:spcPts val="3450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DAHLzq1_5Rw</dc:identifier>
  <dcterms:modified xsi:type="dcterms:W3CDTF">2011-08-01T06:04:30Z</dcterms:modified>
  <cp:revision>1</cp:revision>
  <dc:title>Projet DATAVIZ</dc:title>
</cp:coreProperties>
</file>